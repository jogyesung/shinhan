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-watermark-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56032"/>
            <a:ext cx="8412480" cy="6583680"/>
          </a:xfrm>
          <a:prstGeom prst="rect">
            <a:avLst/>
          </a:prstGeom>
        </p:spPr>
      </p:pic>
      <p:pic>
        <p:nvPicPr>
          <p:cNvPr id="3" name="Picture 2" descr="template-premier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92608"/>
            <a:ext cx="1220978" cy="201168"/>
          </a:xfrm>
          <a:prstGeom prst="rect">
            <a:avLst/>
          </a:prstGeom>
        </p:spPr>
      </p:pic>
      <p:pic>
        <p:nvPicPr>
          <p:cNvPr id="4" name="Picture 3" descr="logo-shinhan-securit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6537960"/>
            <a:ext cx="1162751" cy="201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10312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B18A3A"/>
                </a:solidFill>
                <a:latin typeface="OneShinhan"/>
              </a:rPr>
              <a:t>신한투자증권 · 마케팅전략TF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0F1426"/>
                </a:solidFill>
                <a:latin typeface="OneShinhan"/>
              </a:rPr>
              <a:t>토스 마케팅 사례 분석</a:t>
            </a:r>
          </a:p>
          <a:p>
            <a:pPr algn="l">
              <a:lnSpc>
                <a:spcPct val="112000"/>
              </a:lnSpc>
            </a:pPr>
            <a:r>
              <a:rPr sz="4000" b="1">
                <a:solidFill>
                  <a:srgbClr val="0F1426"/>
                </a:solidFill>
                <a:latin typeface="OneShinhan"/>
              </a:rPr>
              <a:t>— 신금투 적용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B3243"/>
                </a:solidFill>
                <a:latin typeface="OneShinhan"/>
              </a:rPr>
              <a:t>Viral · Utility · Friction-Zero 의 3축으로 본 Toss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2B3243"/>
                </a:solidFill>
                <a:latin typeface="OneShinhan"/>
              </a:rPr>
              <a:t>은행 고객 → 증권 고객화 마케팅에 적용 가능한 시사점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>
                <a:solidFill>
                  <a:srgbClr val="8A92A3"/>
                </a:solidFill>
                <a:latin typeface="OneShinhan"/>
              </a:rPr>
              <a:t>발행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150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B3243"/>
                </a:solidFill>
                <a:latin typeface="OneShinhan"/>
              </a:rPr>
              <a:t>마케팅전략TF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48640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>
                <a:solidFill>
                  <a:srgbClr val="8A92A3"/>
                </a:solidFill>
                <a:latin typeface="OneShinhan"/>
              </a:rPr>
              <a:t>일시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57150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B3243"/>
                </a:solidFill>
                <a:latin typeface="OneShinhan"/>
              </a:rPr>
              <a:t>2026.05.01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548640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>
                <a:solidFill>
                  <a:srgbClr val="8A92A3"/>
                </a:solidFill>
                <a:latin typeface="OneShinhan"/>
              </a:rPr>
              <a:t>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7150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B3243"/>
                </a:solidFill>
                <a:latin typeface="OneShinhan"/>
              </a:rPr>
              <a:t>내부참고자료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023B3"/>
                </a:solidFill>
                <a:latin typeface="OneShinhan"/>
              </a:rPr>
              <a:t>Ⅰ. 토스 마케팅 분석 — 1. 분석 배경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8595360" cy="9525"/>
          </a:xfrm>
          <a:prstGeom prst="rect">
            <a:avLst/>
          </a:prstGeom>
          <a:solidFill>
            <a:srgbClr val="002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.cache_p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92608"/>
            <a:ext cx="474785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65653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5A6376"/>
                </a:solidFill>
                <a:latin typeface="Consolas"/>
              </a:rPr>
              <a:t>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0F1426"/>
                </a:solidFill>
                <a:latin typeface="OneShinhan"/>
              </a:rPr>
              <a:t>설립 9년차 핀테크가 MAU 1,800만 · 증권 신규계좌 400만을 만든 동력은</a:t>
            </a:r>
          </a:p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0F1426"/>
                </a:solidFill>
                <a:latin typeface="OneShinhan"/>
              </a:rPr>
              <a:t>마케팅 비용이 아니라 行動을 설계한 「제품-마케팅 일체화」</a:t>
            </a:r>
          </a:p>
        </p:txBody>
      </p:sp>
      <p:pic>
        <p:nvPicPr>
          <p:cNvPr id="7" name="Picture 6" descr="logo-shinhan-secur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537960"/>
            <a:ext cx="1162751" cy="2011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847088"/>
            <a:ext cx="82296" cy="82296"/>
          </a:xfrm>
          <a:prstGeom prst="rect">
            <a:avLst/>
          </a:prstGeom>
          <a:solidFill>
            <a:srgbClr val="002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64792"/>
            <a:ext cx="8705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426"/>
                </a:solidFill>
                <a:latin typeface="OneShinhan"/>
              </a:rPr>
              <a:t>토스는 「캠페인 ≠ 마케팅」 — 제품 안에 Viral · Hook · Friction-Zero 를 박는다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6712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3243"/>
                </a:solidFill>
                <a:latin typeface="OneShinhan"/>
              </a:rPr>
              <a:t>– '21년 토스증권 출시 시 「1주 받기」 → 9개월만에 400만 계좌 (업계 최단)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59736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3243"/>
                </a:solidFill>
                <a:latin typeface="OneShinhan"/>
              </a:rPr>
              <a:t>– 만보기·행운퀴즈로 일평균 진입 빈도 확보 → CPC 광고 미디어로 자체 수익화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16352"/>
            <a:ext cx="82296" cy="82296"/>
          </a:xfrm>
          <a:prstGeom prst="rect">
            <a:avLst/>
          </a:prstGeom>
          <a:solidFill>
            <a:srgbClr val="002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734056"/>
            <a:ext cx="8705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426"/>
                </a:solidFill>
                <a:latin typeface="OneShinhan"/>
              </a:rPr>
              <a:t>신금투 관점 — 「슈퍼SOL = 채널」 이 아니라 「슈퍼SOL = 행동 설계 플랫폼」 으로 재정의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3639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B3243"/>
                </a:solidFill>
                <a:latin typeface="OneShinhan"/>
              </a:rPr>
              <a:t>– 그룹 MAU 1,000만 → 1,300만 목표 달성을 위해 토스의 3대 메커니즘 학습 가치 높음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023B3"/>
                </a:solidFill>
                <a:latin typeface="OneShinhan"/>
              </a:rPr>
              <a:t>Ⅰ. 토스 마케팅 분석 — 2. 사례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8595360" cy="9525"/>
          </a:xfrm>
          <a:prstGeom prst="rect">
            <a:avLst/>
          </a:prstGeom>
          <a:solidFill>
            <a:srgbClr val="002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.cache_p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92608"/>
            <a:ext cx="474785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65653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5A6376"/>
                </a:solidFill>
                <a:latin typeface="Consolas"/>
              </a:rPr>
              <a:t>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0F1426"/>
                </a:solidFill>
                <a:latin typeface="OneShinhan"/>
              </a:rPr>
              <a:t>토스 핵심 마케팅 4건 — 신증 As-is 와 신금투 To-be 매핑</a:t>
            </a:r>
          </a:p>
        </p:txBody>
      </p:sp>
      <p:pic>
        <p:nvPicPr>
          <p:cNvPr id="7" name="Picture 6" descr="logo-shinhan-secur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537960"/>
            <a:ext cx="1162751" cy="20116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371600"/>
          <a:ext cx="832103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66"/>
                <a:gridCol w="2246680"/>
                <a:gridCol w="1830628"/>
                <a:gridCol w="2912364"/>
              </a:tblGrid>
              <a:tr h="716280">
                <a:tc rowSpan="2"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200" b="0">
                          <a:solidFill>
                            <a:srgbClr val="0F1426"/>
                          </a:solidFill>
                          <a:latin typeface="OneShinhan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EAF0FA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0F1426"/>
                          </a:solidFill>
                          <a:latin typeface="OneShinhan"/>
                        </a:rPr>
                        <a:t>토스 사례</a:t>
                      </a:r>
                    </a:p>
                  </a:txBody>
                  <a:tcPr marL="60000" marR="60000" marT="40000" marB="40000" anchor="ctr">
                    <a:solidFill>
                      <a:srgbClr val="EAF0F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EAF0FA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200" b="1">
                          <a:solidFill>
                            <a:srgbClr val="0F1426"/>
                          </a:solidFill>
                          <a:latin typeface="OneShinhan"/>
                        </a:rPr>
                        <a:t>신금투 To-be</a:t>
                      </a:r>
                    </a:p>
                  </a:txBody>
                  <a:tcPr marL="60000" marR="60000" marT="40000" marB="40000" anchor="ctr">
                    <a:solidFill>
                      <a:srgbClr val="EAF0FA"/>
                    </a:solidFill>
                  </a:tcPr>
                </a:tc>
              </a:tr>
              <a:tr h="71628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2B3243"/>
                          </a:solidFill>
                          <a:latin typeface="OneShinhan"/>
                        </a:rPr>
                        <a:t>신증 As-is</a:t>
                      </a:r>
                    </a:p>
                  </a:txBody>
                  <a:tcPr marL="60000" marR="60000" marT="40000" marB="40000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30000"/>
                        </a:lnSpc>
                      </a:pPr>
                      <a:r>
                        <a:rPr sz="1100" b="0">
                          <a:solidFill>
                            <a:srgbClr val="2B3243"/>
                          </a:solidFill>
                          <a:latin typeface="OneShinhan"/>
                        </a:rPr>
                        <a:t/>
                      </a:r>
                    </a:p>
                  </a:txBody>
                  <a:tcPr marL="60000" marR="60000" marT="40000" marB="40000" anchor="ctr">
                    <a:solidFill>
                      <a:srgbClr val="F5F7FB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71628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1">
                          <a:solidFill>
                            <a:srgbClr val="0F1426"/>
                          </a:solidFill>
                          <a:latin typeface="OneShinhan"/>
                        </a:rPr>
                        <a:t>신규 유입</a:t>
                      </a:r>
                    </a:p>
                  </a:txBody>
                  <a:tcPr marL="60000" marR="60000" marT="40000" marB="4000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「1주 받기」 — 실제 주식 1주를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계좌 개설자에게 무료 지급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이벤트성 캐시백 / 거래 수수료 면제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(거래 후 보상 → 전환률 한계)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0F1426"/>
                          </a:solidFill>
                          <a:latin typeface="OneShinhan"/>
                        </a:rPr>
                        <a:t>「슈퍼증권 계좌 OPEN = 1주」 + MGM 2주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0F1426"/>
                          </a:solidFill>
                          <a:latin typeface="OneShinhan"/>
                        </a:rPr>
                        <a:t>(가입 前 보상으로 funnel 폭 2배)</a:t>
                      </a:r>
                    </a:p>
                  </a:txBody>
                  <a:tcPr marL="60000" marR="60000" marT="40000" marB="40000" anchor="ctr">
                    <a:solidFill>
                      <a:srgbClr val="F5F8F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1">
                          <a:solidFill>
                            <a:srgbClr val="0F1426"/>
                          </a:solidFill>
                          <a:latin typeface="OneShinhan"/>
                        </a:rPr>
                        <a:t>재방문</a:t>
                      </a:r>
                    </a:p>
                  </a:txBody>
                  <a:tcPr marL="60000" marR="60000" marT="40000" marB="4000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만보기·머니게임 — 매일 들어올 이유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(DAU 800만 / 진입빈도 1.6회)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「관심종목·시세」 외 데일리 후크 부재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(거래일에만 진입)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0F1426"/>
                          </a:solidFill>
                          <a:latin typeface="OneShinhan"/>
                        </a:rPr>
                        <a:t>「데일리 시황·1분 마감브리프」 푸시 +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0F1426"/>
                          </a:solidFill>
                          <a:latin typeface="OneShinhan"/>
                        </a:rPr>
                        <a:t>출석 7일 시 거래수수료 100원 적립</a:t>
                      </a:r>
                    </a:p>
                  </a:txBody>
                  <a:tcPr marL="60000" marR="60000" marT="40000" marB="40000" anchor="ctr">
                    <a:solidFill>
                      <a:srgbClr val="F5F8F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1">
                          <a:solidFill>
                            <a:srgbClr val="0F1426"/>
                          </a:solidFill>
                          <a:latin typeface="OneShinhan"/>
                        </a:rPr>
                        <a:t>신뢰 자산</a:t>
                      </a:r>
                    </a:p>
                  </a:txBody>
                  <a:tcPr marL="60000" marR="60000" marT="40000" marB="4000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신용점수 무료조회 → 5,000만 누적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→ 대출·보험 비교로 funnel 확장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MTS 내 「투자정보」 메뉴 존재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(Read-only 콘텐츠 · 후속 행동 없음)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0F1426"/>
                          </a:solidFill>
                          <a:latin typeface="OneShinhan"/>
                        </a:rPr>
                        <a:t>「내 투자성향 무료진단」 + 종목추천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0F1426"/>
                          </a:solidFill>
                          <a:latin typeface="OneShinhan"/>
                        </a:rPr>
                        <a:t>→ 진단→매수 전환 KPI 트래킹</a:t>
                      </a:r>
                    </a:p>
                  </a:txBody>
                  <a:tcPr marL="60000" marR="60000" marT="40000" marB="40000" anchor="ctr">
                    <a:solidFill>
                      <a:srgbClr val="F5F8FF"/>
                    </a:solidFill>
                  </a:tcPr>
                </a:tc>
              </a:tr>
              <a:tr h="716280"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1">
                          <a:solidFill>
                            <a:srgbClr val="0F1426"/>
                          </a:solidFill>
                          <a:latin typeface="OneShinhan"/>
                        </a:rPr>
                        <a:t>브랜드</a:t>
                      </a:r>
                    </a:p>
                  </a:txBody>
                  <a:tcPr marL="60000" marR="60000" marT="40000" marB="4000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다큐멘터리 토스 시즌1/2 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(YouTube 누적 1,200만 view)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광고/스폰서십 중심 (TVCF · 야구단)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2B3243"/>
                          </a:solidFill>
                          <a:latin typeface="OneShinhan"/>
                        </a:rPr>
                        <a:t>— 인지에 그쳐 행동전환 약함</a:t>
                      </a:r>
                    </a:p>
                  </a:txBody>
                  <a:tcPr marL="60000" marR="6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0F1426"/>
                          </a:solidFill>
                          <a:latin typeface="OneShinhan"/>
                        </a:rPr>
                        <a:t>「쏠리네 가족」 시리즈 — 고객 케이스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sz="1050" b="0">
                          <a:solidFill>
                            <a:srgbClr val="0F1426"/>
                          </a:solidFill>
                          <a:latin typeface="OneShinhan"/>
                        </a:rPr>
                        <a:t>다큐 + 슈퍼SOL 가입 유도 CTA</a:t>
                      </a:r>
                    </a:p>
                  </a:txBody>
                  <a:tcPr marL="60000" marR="60000" marT="40000" marB="40000" anchor="ctr"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023B3"/>
                </a:solidFill>
                <a:latin typeface="OneShinhan"/>
              </a:rPr>
              <a:t>Ⅱ. 토스 마케팅의 3대 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8595360" cy="9525"/>
          </a:xfrm>
          <a:prstGeom prst="rect">
            <a:avLst/>
          </a:prstGeom>
          <a:solidFill>
            <a:srgbClr val="002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.cache_p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92608"/>
            <a:ext cx="474785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65653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5A6376"/>
                </a:solidFill>
                <a:latin typeface="Consolas"/>
              </a:rPr>
              <a:t>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1426"/>
                </a:solidFill>
                <a:latin typeface="OneShinhan"/>
              </a:rPr>
              <a:t>Viral · Utility · Friction-Zero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A6376"/>
                </a:solidFill>
                <a:latin typeface="OneShinhan"/>
              </a:rPr>
              <a:t>토스가 기존 금융사의 「캠페인 마케팅」 패러다임을 넘어선 핵심 메커니즘 3가지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81635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046FF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22677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426"/>
                </a:solidFill>
                <a:latin typeface="OneShinhan"/>
              </a:rPr>
              <a:t>Viral Loop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426"/>
                </a:solidFill>
                <a:latin typeface="OneShinhan"/>
              </a:rPr>
              <a:t>친구가 보상의 매개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22677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2B3243"/>
                </a:solidFill>
                <a:latin typeface="OneShinhan"/>
              </a:rPr>
              <a:t>「1주 받기」「행운퀴즈」「머니뿌리기」 모두 친구 호출이 보상 트리거 — 광고비 없이 신규 유입을 확보하는 자가증식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023B3"/>
                </a:solidFill>
                <a:latin typeface="Consolas"/>
              </a:rPr>
              <a:t>VIRAL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9584" y="1783080"/>
            <a:ext cx="2816352" cy="329184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205740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2423160"/>
            <a:ext cx="22677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OneShinhan"/>
              </a:rPr>
              <a:t>Utility Hook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OneShinhan"/>
              </a:rPr>
              <a:t>매일 쓸 이유 제공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3703320"/>
            <a:ext cx="22677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FFFFFF"/>
                </a:solidFill>
                <a:latin typeface="OneShinhan"/>
              </a:rPr>
              <a:t>만보기·신용점수·환율알림처럼 「금융 무관해 보이는」 일상 도구를 앱 안에 박아 DAU 와 진입빈도를 펌프 — 광고지면이 자체 미디어가 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466344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Consolas"/>
              </a:rPr>
              <a:t>UTILITY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0528" y="1783080"/>
            <a:ext cx="2816352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05740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046FF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23160"/>
            <a:ext cx="226771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426"/>
                </a:solidFill>
                <a:latin typeface="OneShinhan"/>
              </a:rPr>
              <a:t>Friction Zero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426"/>
                </a:solidFill>
                <a:latin typeface="OneShinhan"/>
              </a:rPr>
              <a:t>3탭 안에 끝낸다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703320"/>
            <a:ext cx="22677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2B3243"/>
                </a:solidFill>
                <a:latin typeface="OneShinhan"/>
              </a:rPr>
              <a:t>계좌 개설 60초 · 매수 3탭 · 송금 1초 — UI/UX 개선이 곧 마케팅. 기존 증권사가 7~12 단계 거치던 흐름을 1/3 로 압축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466344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023B3"/>
                </a:solidFill>
                <a:latin typeface="Consolas"/>
              </a:rPr>
              <a:t>PRODUCT</a:t>
            </a:r>
          </a:p>
        </p:txBody>
      </p:sp>
      <p:pic>
        <p:nvPicPr>
          <p:cNvPr id="23" name="Picture 22" descr="logo-shinhan-secur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537960"/>
            <a:ext cx="1162751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023B3"/>
                </a:solidFill>
                <a:latin typeface="OneShinhan"/>
              </a:rPr>
              <a:t>Ⅱ. 토스 마케팅의 3대 무기 — 정량 지표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8595360" cy="9525"/>
          </a:xfrm>
          <a:prstGeom prst="rect">
            <a:avLst/>
          </a:prstGeom>
          <a:solidFill>
            <a:srgbClr val="002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.cache_p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92608"/>
            <a:ext cx="474785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65653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5A6376"/>
                </a:solidFill>
                <a:latin typeface="Consolas"/>
              </a:rP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1426"/>
                </a:solidFill>
                <a:latin typeface="OneShinhan"/>
              </a:rPr>
              <a:t>토스 핵심 지표 — '24년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071116" cy="210312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7053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376"/>
                </a:solidFill>
                <a:latin typeface="OneShinhan"/>
              </a:rPr>
              <a:t>월간 활성 사용자 MAU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17053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0046FF"/>
                </a:solidFill>
                <a:latin typeface="OneShinhan"/>
              </a:rPr>
              <a:t>1,800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34640"/>
            <a:ext cx="17053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B3243"/>
                </a:solidFill>
                <a:latin typeface="OneShinhan"/>
              </a:rPr>
              <a:t>만명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182112"/>
            <a:ext cx="17053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A92A3"/>
                </a:solidFill>
                <a:latin typeface="OneShinhan"/>
              </a:rPr>
              <a:t>전년比 +12%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4348" y="1554480"/>
            <a:ext cx="2071116" cy="210312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3804" y="1755648"/>
            <a:ext cx="17053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376"/>
                </a:solidFill>
                <a:latin typeface="OneShinhan"/>
              </a:rPr>
              <a:t>토스증권 누적계좌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3804" y="2057400"/>
            <a:ext cx="17053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0046FF"/>
                </a:solidFill>
                <a:latin typeface="OneShinhan"/>
              </a:rPr>
              <a:t>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3804" y="2834640"/>
            <a:ext cx="17053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B3243"/>
                </a:solidFill>
                <a:latin typeface="OneShinhan"/>
              </a:rPr>
              <a:t>만좌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3804" y="3182112"/>
            <a:ext cx="17053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A92A3"/>
                </a:solidFill>
                <a:latin typeface="OneShinhan"/>
              </a:rPr>
              <a:t>출시 3년차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0056" y="1554480"/>
            <a:ext cx="2071116" cy="210312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1755648"/>
            <a:ext cx="17053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A6376"/>
                </a:solidFill>
                <a:latin typeface="OneShinhan"/>
              </a:rPr>
              <a:t>만보기 DAU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057400"/>
            <a:ext cx="17053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0046FF"/>
                </a:solidFill>
                <a:latin typeface="OneShinhan"/>
              </a:rPr>
              <a:t>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34640"/>
            <a:ext cx="17053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B3243"/>
                </a:solidFill>
                <a:latin typeface="OneShinhan"/>
              </a:rPr>
              <a:t>만명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3182112"/>
            <a:ext cx="17053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A92A3"/>
                </a:solidFill>
                <a:latin typeface="OneShinhan"/>
              </a:rPr>
              <a:t>주 6.4회 진입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5764" y="1554480"/>
            <a:ext cx="2071116" cy="210312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5220" y="1755648"/>
            <a:ext cx="17053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OneShinhan"/>
              </a:rPr>
              <a:t>행운퀴즈 일평균 참여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5220" y="2057400"/>
            <a:ext cx="17053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OneShinhan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5220" y="2834640"/>
            <a:ext cx="170535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OneShinhan"/>
              </a:rPr>
              <a:t>만명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5220" y="3182112"/>
            <a:ext cx="17053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OneShinhan"/>
              </a:rPr>
              <a:t>광고 미디어化</a:t>
            </a:r>
          </a:p>
        </p:txBody>
      </p:sp>
      <p:pic>
        <p:nvPicPr>
          <p:cNvPr id="27" name="Picture 26" descr="logo-shinhan-secur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537960"/>
            <a:ext cx="1162751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023B3"/>
                </a:solidFill>
                <a:latin typeface="OneShinhan"/>
              </a:rPr>
              <a:t>Ⅱ. 토스 마케팅의 3대 무기 — 발전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8595360" cy="9525"/>
          </a:xfrm>
          <a:prstGeom prst="rect">
            <a:avLst/>
          </a:prstGeom>
          <a:solidFill>
            <a:srgbClr val="002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.cache_p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92608"/>
            <a:ext cx="474785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65653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5A6376"/>
                </a:solidFill>
                <a:latin typeface="Consolas"/>
              </a:rPr>
              <a:t>6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0F1426"/>
                </a:solidFill>
                <a:latin typeface="OneShinhan"/>
              </a:rPr>
              <a:t>토스 마케팅 마일스톤 — 「제품으로 마케팅」 모델의 진화</a:t>
            </a:r>
          </a:p>
        </p:txBody>
      </p:sp>
      <p:pic>
        <p:nvPicPr>
          <p:cNvPr id="7" name="Picture 6" descr="logo-shinhan-secur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537960"/>
            <a:ext cx="1162751" cy="2011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847088"/>
            <a:ext cx="82296" cy="82296"/>
          </a:xfrm>
          <a:prstGeom prst="rect">
            <a:avLst/>
          </a:prstGeom>
          <a:solidFill>
            <a:srgbClr val="002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64792"/>
            <a:ext cx="8705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426"/>
                </a:solidFill>
                <a:latin typeface="OneShinhan"/>
              </a:rPr>
              <a:t>9년간 단계적 확장 — 송금 → 증권 → 뱅크 → 보험 → 콘텐츠 미디어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0080" y="5687568"/>
            <a:ext cx="8595360" cy="201168"/>
          </a:xfrm>
          <a:prstGeom prst="rightArrow">
            <a:avLst/>
          </a:prstGeom>
          <a:solidFill>
            <a:srgbClr val="C0D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376672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0F1426"/>
                </a:solidFill>
                <a:latin typeface="Consolas"/>
              </a:rPr>
              <a:t>'15.2</a:t>
            </a:r>
          </a:p>
        </p:txBody>
      </p:sp>
      <p:sp>
        <p:nvSpPr>
          <p:cNvPr id="12" name="Oval 11"/>
          <p:cNvSpPr/>
          <p:nvPr/>
        </p:nvSpPr>
        <p:spPr>
          <a:xfrm>
            <a:off x="1417320" y="570585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961888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2B3243"/>
                </a:solidFill>
                <a:latin typeface="OneShinhan"/>
              </a:rPr>
              <a:t>토스 송금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2B3243"/>
                </a:solidFill>
                <a:latin typeface="OneShinhan"/>
              </a:rPr>
              <a:t>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5376672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0F1426"/>
                </a:solidFill>
                <a:latin typeface="Consolas"/>
              </a:rPr>
              <a:t>'18.10</a:t>
            </a:r>
          </a:p>
        </p:txBody>
      </p:sp>
      <p:sp>
        <p:nvSpPr>
          <p:cNvPr id="15" name="Oval 14"/>
          <p:cNvSpPr/>
          <p:nvPr/>
        </p:nvSpPr>
        <p:spPr>
          <a:xfrm>
            <a:off x="3136392" y="570585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5961888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2B3243"/>
                </a:solidFill>
                <a:latin typeface="OneShinhan"/>
              </a:rPr>
              <a:t>신용점수 무료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2B3243"/>
                </a:solidFill>
                <a:latin typeface="OneShinhan"/>
              </a:rPr>
              <a:t>조회 런칭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5376672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0F1426"/>
                </a:solidFill>
                <a:latin typeface="Consolas"/>
              </a:rPr>
              <a:t>'21.3</a:t>
            </a:r>
          </a:p>
        </p:txBody>
      </p:sp>
      <p:sp>
        <p:nvSpPr>
          <p:cNvPr id="18" name="Oval 17"/>
          <p:cNvSpPr/>
          <p:nvPr/>
        </p:nvSpPr>
        <p:spPr>
          <a:xfrm>
            <a:off x="4855464" y="570585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9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78224" y="5961888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2B3243"/>
                </a:solidFill>
                <a:latin typeface="OneShinhan"/>
              </a:rPr>
              <a:t>토스증권</a:t>
            </a:r>
          </a:p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2B3243"/>
                </a:solidFill>
                <a:latin typeface="OneShinhan"/>
              </a:rPr>
              <a:t>「1주 받기」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5376672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0F1426"/>
                </a:solidFill>
                <a:latin typeface="Consolas"/>
              </a:rPr>
              <a:t>'24.Q1</a:t>
            </a:r>
          </a:p>
        </p:txBody>
      </p:sp>
      <p:sp>
        <p:nvSpPr>
          <p:cNvPr id="21" name="Oval 20"/>
          <p:cNvSpPr/>
          <p:nvPr/>
        </p:nvSpPr>
        <p:spPr>
          <a:xfrm>
            <a:off x="6574536" y="570585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7296" y="5961888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023B3"/>
                </a:solidFill>
                <a:latin typeface="OneShinhan"/>
              </a:rPr>
              <a:t>토스뱅크</a:t>
            </a:r>
          </a:p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023B3"/>
                </a:solidFill>
                <a:latin typeface="OneShinhan"/>
              </a:rPr>
              <a:t>흑자 전환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5376672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0F1426"/>
                </a:solidFill>
                <a:latin typeface="Consolas"/>
              </a:rPr>
              <a:t>'26.예상</a:t>
            </a:r>
          </a:p>
        </p:txBody>
      </p:sp>
      <p:sp>
        <p:nvSpPr>
          <p:cNvPr id="24" name="Oval 23"/>
          <p:cNvSpPr/>
          <p:nvPr/>
        </p:nvSpPr>
        <p:spPr>
          <a:xfrm>
            <a:off x="8293608" y="5705856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8" y="5961888"/>
            <a:ext cx="1719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023B3"/>
                </a:solidFill>
                <a:latin typeface="OneShinhan"/>
              </a:rPr>
              <a:t>신금투</a:t>
            </a:r>
          </a:p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023B3"/>
                </a:solidFill>
                <a:latin typeface="OneShinhan"/>
              </a:rPr>
              <a:t>New 슈퍼SOL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CDCFF"/>
                </a:solidFill>
                <a:latin typeface="OneShinhan"/>
              </a:rPr>
              <a:t>시사점 · STRATEGIC IMPLICATION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8229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FFFFFF"/>
                </a:solidFill>
                <a:latin typeface="OneShinhan"/>
              </a:rPr>
              <a:t>"차별화는 채널이 아닌</a:t>
            </a:r>
          </a:p>
          <a:p>
            <a:pPr algn="l">
              <a:lnSpc>
                <a:spcPct val="118000"/>
              </a:lnSpc>
            </a:pPr>
            <a:r>
              <a:rPr sz="4000" b="1">
                <a:solidFill>
                  <a:srgbClr val="FFFFFF"/>
                </a:solidFill>
                <a:latin typeface="OneShinhan"/>
              </a:rPr>
              <a:t>행동 설계에서 나온다."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FFFFFF"/>
                </a:solidFill>
                <a:latin typeface="OneShinhan"/>
              </a:rPr>
              <a:t>신금투의 다음 한 수는 「또 하나의 MTS」 가 아니라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FFFFFF"/>
                </a:solidFill>
                <a:latin typeface="OneShinhan"/>
              </a:rPr>
              <a:t>고객이 매일 들어올 이유 · 친구를 부를 이유 · 1탭으로 끝낼 이유 三拍子의 設計</a:t>
            </a:r>
          </a:p>
        </p:txBody>
      </p:sp>
      <p:pic>
        <p:nvPicPr>
          <p:cNvPr id="6" name="Picture 5" descr="template-premier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46520"/>
            <a:ext cx="1553972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